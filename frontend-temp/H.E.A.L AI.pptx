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287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Poppins Bold" charset="1" panose="00000800000000000000"/>
      <p:regular r:id="rId13"/>
    </p:embeddedFont>
    <p:embeddedFont>
      <p:font typeface="Times New Roman" charset="1" panose="02020603050405020304"/>
      <p:regular r:id="rId14"/>
    </p:embeddedFont>
    <p:embeddedFont>
      <p:font typeface="Public Sans Bold" charset="1" panose="00000000000000000000"/>
      <p:regular r:id="rId15"/>
    </p:embeddedFont>
    <p:embeddedFont>
      <p:font typeface="Bernoru" charset="1" panose="00000A00000000000000"/>
      <p:regular r:id="rId16"/>
    </p:embeddedFont>
    <p:embeddedFont>
      <p:font typeface="ABeeZee" charset="1" panose="02000000000000000000"/>
      <p:regular r:id="rId17"/>
    </p:embeddedFont>
    <p:embeddedFont>
      <p:font typeface="Abril Fatface" charset="1" panose="020005030000000200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47374">
            <a:off x="6346367" y="8880747"/>
            <a:ext cx="4062718" cy="3407605"/>
          </a:xfrm>
          <a:custGeom>
            <a:avLst/>
            <a:gdLst/>
            <a:ahLst/>
            <a:cxnLst/>
            <a:rect r="r" b="b" t="t" l="l"/>
            <a:pathLst>
              <a:path h="3407605" w="4062718">
                <a:moveTo>
                  <a:pt x="0" y="0"/>
                </a:moveTo>
                <a:lnTo>
                  <a:pt x="4062718" y="0"/>
                </a:lnTo>
                <a:lnTo>
                  <a:pt x="4062718" y="3407605"/>
                </a:lnTo>
                <a:lnTo>
                  <a:pt x="0" y="34076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880766" y="2618594"/>
            <a:ext cx="12977509" cy="8990349"/>
          </a:xfrm>
          <a:custGeom>
            <a:avLst/>
            <a:gdLst/>
            <a:ahLst/>
            <a:cxnLst/>
            <a:rect r="r" b="b" t="t" l="l"/>
            <a:pathLst>
              <a:path h="8990349" w="12977509">
                <a:moveTo>
                  <a:pt x="0" y="8990349"/>
                </a:moveTo>
                <a:lnTo>
                  <a:pt x="12977509" y="8990349"/>
                </a:lnTo>
                <a:lnTo>
                  <a:pt x="12977509" y="0"/>
                </a:lnTo>
                <a:lnTo>
                  <a:pt x="0" y="0"/>
                </a:lnTo>
                <a:lnTo>
                  <a:pt x="0" y="8990349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56155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033929" y="4289676"/>
            <a:ext cx="6294873" cy="6294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5046" t="0" r="-2504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613" y="7113768"/>
            <a:ext cx="3096261" cy="726553"/>
            <a:chOff x="0" y="0"/>
            <a:chExt cx="815476" cy="1913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476" cy="191355"/>
            </a:xfrm>
            <a:custGeom>
              <a:avLst/>
              <a:gdLst/>
              <a:ahLst/>
              <a:cxnLst/>
              <a:rect r="r" b="b" t="t" l="l"/>
              <a:pathLst>
                <a:path h="191355" w="815476">
                  <a:moveTo>
                    <a:pt x="0" y="0"/>
                  </a:moveTo>
                  <a:lnTo>
                    <a:pt x="815476" y="0"/>
                  </a:lnTo>
                  <a:lnTo>
                    <a:pt x="815476" y="191355"/>
                  </a:lnTo>
                  <a:lnTo>
                    <a:pt x="0" y="191355"/>
                  </a:lnTo>
                  <a:close/>
                </a:path>
              </a:pathLst>
            </a:custGeom>
            <a:solidFill>
              <a:srgbClr val="EB489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5476" cy="238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-10800000">
            <a:off x="6174709" y="0"/>
            <a:ext cx="4112291" cy="3428622"/>
          </a:xfrm>
          <a:custGeom>
            <a:avLst/>
            <a:gdLst/>
            <a:ahLst/>
            <a:cxnLst/>
            <a:rect r="r" b="b" t="t" l="l"/>
            <a:pathLst>
              <a:path h="3428622" w="4112291">
                <a:moveTo>
                  <a:pt x="4112291" y="0"/>
                </a:moveTo>
                <a:lnTo>
                  <a:pt x="0" y="0"/>
                </a:lnTo>
                <a:lnTo>
                  <a:pt x="0" y="3428622"/>
                </a:lnTo>
                <a:lnTo>
                  <a:pt x="4112291" y="3428622"/>
                </a:lnTo>
                <a:lnTo>
                  <a:pt x="411229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54650" y="289529"/>
            <a:ext cx="573636" cy="573636"/>
          </a:xfrm>
          <a:custGeom>
            <a:avLst/>
            <a:gdLst/>
            <a:ahLst/>
            <a:cxnLst/>
            <a:rect r="r" b="b" t="t" l="l"/>
            <a:pathLst>
              <a:path h="573636" w="573636">
                <a:moveTo>
                  <a:pt x="0" y="0"/>
                </a:moveTo>
                <a:lnTo>
                  <a:pt x="573636" y="0"/>
                </a:lnTo>
                <a:lnTo>
                  <a:pt x="573636" y="573636"/>
                </a:lnTo>
                <a:lnTo>
                  <a:pt x="0" y="5736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328" y="1894268"/>
            <a:ext cx="10080344" cy="75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3"/>
              </a:lnSpc>
            </a:pPr>
            <a:r>
              <a:rPr lang="en-US" sz="5218" b="true">
                <a:solidFill>
                  <a:srgbClr val="247CB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Simplify Your Medical Bills with </a:t>
            </a:r>
            <a:r>
              <a:rPr lang="en-US" sz="5218" b="true">
                <a:solidFill>
                  <a:srgbClr val="EB489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64412" y="2628119"/>
            <a:ext cx="5316955" cy="532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  <a:spcBef>
                <a:spcPct val="0"/>
              </a:spcBef>
            </a:pPr>
            <a:r>
              <a:rPr lang="en-US" b="true" sz="3008">
                <a:solidFill>
                  <a:srgbClr val="247CB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Clarity</a:t>
            </a:r>
            <a:r>
              <a:rPr lang="en-US" b="true" sz="3008">
                <a:solidFill>
                  <a:srgbClr val="EB489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  <a:r>
              <a:rPr lang="en-US" b="true" sz="3008">
                <a:solidFill>
                  <a:srgbClr val="247CB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Transparency</a:t>
            </a:r>
            <a:r>
              <a:rPr lang="en-US" b="true" sz="3008">
                <a:solidFill>
                  <a:srgbClr val="EB489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  <a:r>
              <a:rPr lang="en-US" b="true" sz="3008">
                <a:solidFill>
                  <a:srgbClr val="247CB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Control</a:t>
            </a:r>
            <a:r>
              <a:rPr lang="en-US" b="true" sz="3008">
                <a:solidFill>
                  <a:srgbClr val="EB489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1850" y="7754596"/>
            <a:ext cx="2484812" cy="582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7"/>
              </a:lnSpc>
              <a:spcBef>
                <a:spcPct val="0"/>
              </a:spcBef>
            </a:pPr>
            <a:r>
              <a:rPr lang="en-US" b="true" sz="339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www.heal.ai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7613" y="7120312"/>
            <a:ext cx="3096261" cy="644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5"/>
              </a:lnSpc>
              <a:spcBef>
                <a:spcPct val="0"/>
              </a:spcBef>
            </a:pPr>
            <a:r>
              <a:rPr lang="en-US" b="true" sz="35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Learn More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37423" y="209931"/>
            <a:ext cx="2370931" cy="63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9"/>
              </a:lnSpc>
            </a:pPr>
            <a:r>
              <a:rPr lang="en-US" sz="3592" b="true">
                <a:solidFill>
                  <a:srgbClr val="247CB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H.E.A.L </a:t>
            </a:r>
            <a:r>
              <a:rPr lang="en-US" sz="3592" b="true">
                <a:solidFill>
                  <a:srgbClr val="EB489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</a:t>
            </a:r>
            <a:r>
              <a:rPr lang="en-US" sz="3592" b="true">
                <a:solidFill>
                  <a:srgbClr val="247CB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7235" y="9743759"/>
            <a:ext cx="5504660" cy="376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Your </a:t>
            </a:r>
            <a:r>
              <a:rPr lang="en-US" b="true" sz="21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 expenses, finally explained.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09112" y="1047750"/>
            <a:ext cx="6518372" cy="35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4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</a:t>
            </a:r>
            <a:r>
              <a:rPr lang="en-US" sz="24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lthcare Expenses Analyzer &amp; Logger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56260" y="3693043"/>
            <a:ext cx="4578366" cy="0"/>
          </a:xfrm>
          <a:prstGeom prst="line">
            <a:avLst/>
          </a:prstGeom>
          <a:ln cap="flat" w="38100">
            <a:solidFill>
              <a:srgbClr val="EB48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607366" y="816321"/>
            <a:ext cx="4114501" cy="8127409"/>
          </a:xfrm>
          <a:custGeom>
            <a:avLst/>
            <a:gdLst/>
            <a:ahLst/>
            <a:cxnLst/>
            <a:rect r="r" b="b" t="t" l="l"/>
            <a:pathLst>
              <a:path h="8127409" w="4114501">
                <a:moveTo>
                  <a:pt x="0" y="0"/>
                </a:moveTo>
                <a:lnTo>
                  <a:pt x="4114500" y="0"/>
                </a:lnTo>
                <a:lnTo>
                  <a:pt x="4114500" y="8127408"/>
                </a:lnTo>
                <a:lnTo>
                  <a:pt x="0" y="8127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8734" y="8321214"/>
            <a:ext cx="6225184" cy="1689561"/>
          </a:xfrm>
          <a:custGeom>
            <a:avLst/>
            <a:gdLst/>
            <a:ahLst/>
            <a:cxnLst/>
            <a:rect r="r" b="b" t="t" l="l"/>
            <a:pathLst>
              <a:path h="1689561" w="6225184">
                <a:moveTo>
                  <a:pt x="0" y="0"/>
                </a:moveTo>
                <a:lnTo>
                  <a:pt x="6225184" y="0"/>
                </a:lnTo>
                <a:lnTo>
                  <a:pt x="6225184" y="1689561"/>
                </a:lnTo>
                <a:lnTo>
                  <a:pt x="0" y="168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25" b="-44210"/>
            </a:stretch>
          </a:blipFill>
        </p:spPr>
      </p:sp>
      <p:sp>
        <p:nvSpPr>
          <p:cNvPr name="AutoShape 5" id="5"/>
          <p:cNvSpPr/>
          <p:nvPr/>
        </p:nvSpPr>
        <p:spPr>
          <a:xfrm rot="-54004">
            <a:off x="8508940" y="9490444"/>
            <a:ext cx="1212702" cy="0"/>
          </a:xfrm>
          <a:prstGeom prst="line">
            <a:avLst/>
          </a:prstGeom>
          <a:ln cap="flat" w="38100">
            <a:solidFill>
              <a:srgbClr val="97AA9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" id="6"/>
          <p:cNvSpPr/>
          <p:nvPr/>
        </p:nvSpPr>
        <p:spPr>
          <a:xfrm rot="-54004">
            <a:off x="8508940" y="9232511"/>
            <a:ext cx="1212702" cy="0"/>
          </a:xfrm>
          <a:prstGeom prst="line">
            <a:avLst/>
          </a:prstGeom>
          <a:ln cap="flat" w="38100">
            <a:solidFill>
              <a:srgbClr val="97AA9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rot="-54004">
            <a:off x="8508940" y="8912681"/>
            <a:ext cx="1212702" cy="0"/>
          </a:xfrm>
          <a:prstGeom prst="line">
            <a:avLst/>
          </a:prstGeom>
          <a:ln cap="flat" w="38100">
            <a:solidFill>
              <a:srgbClr val="97AA9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8" id="8"/>
          <p:cNvSpPr txBox="true"/>
          <p:nvPr/>
        </p:nvSpPr>
        <p:spPr>
          <a:xfrm rot="0">
            <a:off x="356260" y="1588043"/>
            <a:ext cx="5053600" cy="210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06"/>
              </a:lnSpc>
            </a:pPr>
            <a:r>
              <a:rPr lang="en-US" sz="8151">
                <a:solidFill>
                  <a:srgbClr val="247C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Did You</a:t>
            </a:r>
          </a:p>
          <a:p>
            <a:pPr algn="l">
              <a:lnSpc>
                <a:spcPts val="7906"/>
              </a:lnSpc>
            </a:pPr>
            <a:r>
              <a:rPr lang="en-US" sz="8151">
                <a:solidFill>
                  <a:srgbClr val="247C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6260" y="749483"/>
            <a:ext cx="4578366" cy="45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61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Pain is Widespread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99" y="4822875"/>
            <a:ext cx="8334616" cy="407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</a:t>
            </a:r>
            <a:r>
              <a:rPr lang="en-US" sz="2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atients struggle to know:</a:t>
            </a:r>
          </a:p>
          <a:p>
            <a:pPr algn="l">
              <a:lnSpc>
                <a:spcPts val="3779"/>
              </a:lnSpc>
            </a:pPr>
          </a:p>
          <a:p>
            <a:pPr algn="l" marL="582789" indent="-291395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part is covered by insurance?</a:t>
            </a:r>
          </a:p>
          <a:p>
            <a:pPr algn="l" marL="582789" indent="-291395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What’s actually owed out-of-pocket?</a:t>
            </a:r>
          </a:p>
          <a:p>
            <a:pPr algn="l" marL="582789" indent="-291395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Whether errors or duplicate charges exist?</a:t>
            </a: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26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4399" y="3645418"/>
            <a:ext cx="7786997" cy="179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</a:p>
          <a:p>
            <a:pPr algn="l">
              <a:lnSpc>
                <a:spcPts val="2789"/>
              </a:lnSpc>
            </a:pPr>
          </a:p>
          <a:p>
            <a:pPr algn="l">
              <a:lnSpc>
                <a:spcPts val="4420"/>
              </a:lnSpc>
            </a:pPr>
            <a:r>
              <a:rPr lang="en-US" sz="31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US" sz="315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0%+ of medical bills contain errors</a:t>
            </a:r>
          </a:p>
          <a:p>
            <a:pPr algn="l">
              <a:lnSpc>
                <a:spcPts val="44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514350" y="514350"/>
            <a:ext cx="9258300" cy="92583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3113337" y="3389006"/>
            <a:ext cx="4060326" cy="3508988"/>
            <a:chOff x="0" y="0"/>
            <a:chExt cx="808249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250" cy="698500"/>
            </a:xfrm>
            <a:custGeom>
              <a:avLst/>
              <a:gdLst/>
              <a:ahLst/>
              <a:cxnLst/>
              <a:rect r="r" b="b" t="t" l="l"/>
              <a:pathLst>
                <a:path h="698500" w="808250">
                  <a:moveTo>
                    <a:pt x="808250" y="349250"/>
                  </a:moveTo>
                  <a:lnTo>
                    <a:pt x="60505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5050" y="0"/>
                  </a:lnTo>
                  <a:lnTo>
                    <a:pt x="80825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7964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42201" y="1606820"/>
            <a:ext cx="802598" cy="80259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96966" y="3067311"/>
            <a:ext cx="802598" cy="80259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4072" y="5802187"/>
            <a:ext cx="802598" cy="80259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42201" y="7142240"/>
            <a:ext cx="802598" cy="80259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35986" y="5802187"/>
            <a:ext cx="802598" cy="80259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26461" y="3067311"/>
            <a:ext cx="802598" cy="80259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407738" y="6065651"/>
            <a:ext cx="583430" cy="275671"/>
          </a:xfrm>
          <a:custGeom>
            <a:avLst/>
            <a:gdLst/>
            <a:ahLst/>
            <a:cxnLst/>
            <a:rect r="r" b="b" t="t" l="l"/>
            <a:pathLst>
              <a:path h="275671" w="583430">
                <a:moveTo>
                  <a:pt x="0" y="0"/>
                </a:moveTo>
                <a:lnTo>
                  <a:pt x="583430" y="0"/>
                </a:lnTo>
                <a:lnTo>
                  <a:pt x="583430" y="275670"/>
                </a:lnTo>
                <a:lnTo>
                  <a:pt x="0" y="2756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307679" y="3206603"/>
            <a:ext cx="450579" cy="432556"/>
          </a:xfrm>
          <a:custGeom>
            <a:avLst/>
            <a:gdLst/>
            <a:ahLst/>
            <a:cxnLst/>
            <a:rect r="r" b="b" t="t" l="l"/>
            <a:pathLst>
              <a:path h="432556" w="450579">
                <a:moveTo>
                  <a:pt x="0" y="0"/>
                </a:moveTo>
                <a:lnTo>
                  <a:pt x="450579" y="0"/>
                </a:lnTo>
                <a:lnTo>
                  <a:pt x="450579" y="432556"/>
                </a:lnTo>
                <a:lnTo>
                  <a:pt x="0" y="432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919374" y="7329601"/>
            <a:ext cx="448252" cy="427877"/>
          </a:xfrm>
          <a:custGeom>
            <a:avLst/>
            <a:gdLst/>
            <a:ahLst/>
            <a:cxnLst/>
            <a:rect r="r" b="b" t="t" l="l"/>
            <a:pathLst>
              <a:path h="427877" w="448252">
                <a:moveTo>
                  <a:pt x="0" y="0"/>
                </a:moveTo>
                <a:lnTo>
                  <a:pt x="448252" y="0"/>
                </a:lnTo>
                <a:lnTo>
                  <a:pt x="448252" y="427876"/>
                </a:lnTo>
                <a:lnTo>
                  <a:pt x="0" y="427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241378" y="5922004"/>
            <a:ext cx="591814" cy="562963"/>
          </a:xfrm>
          <a:custGeom>
            <a:avLst/>
            <a:gdLst/>
            <a:ahLst/>
            <a:cxnLst/>
            <a:rect r="r" b="b" t="t" l="l"/>
            <a:pathLst>
              <a:path h="562963" w="591814">
                <a:moveTo>
                  <a:pt x="0" y="0"/>
                </a:moveTo>
                <a:lnTo>
                  <a:pt x="591814" y="0"/>
                </a:lnTo>
                <a:lnTo>
                  <a:pt x="591814" y="562963"/>
                </a:lnTo>
                <a:lnTo>
                  <a:pt x="0" y="5629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350310" y="3206603"/>
            <a:ext cx="354901" cy="606197"/>
          </a:xfrm>
          <a:custGeom>
            <a:avLst/>
            <a:gdLst/>
            <a:ahLst/>
            <a:cxnLst/>
            <a:rect r="r" b="b" t="t" l="l"/>
            <a:pathLst>
              <a:path h="606197" w="354901">
                <a:moveTo>
                  <a:pt x="0" y="0"/>
                </a:moveTo>
                <a:lnTo>
                  <a:pt x="354900" y="0"/>
                </a:lnTo>
                <a:lnTo>
                  <a:pt x="354900" y="606197"/>
                </a:lnTo>
                <a:lnTo>
                  <a:pt x="0" y="6061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990303" y="2498623"/>
            <a:ext cx="2306395" cy="64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2"/>
              </a:lnSpc>
            </a:pPr>
            <a:r>
              <a:rPr lang="en-US" b="true" sz="248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Upload &amp; Simplify Bills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03350" y="6728610"/>
            <a:ext cx="166567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0"/>
              </a:lnSpc>
            </a:pPr>
            <a:r>
              <a:rPr lang="en-US" b="true" sz="244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Dispute Assistance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192216" y="5143500"/>
            <a:ext cx="1808909" cy="338361"/>
          </a:xfrm>
          <a:custGeom>
            <a:avLst/>
            <a:gdLst/>
            <a:ahLst/>
            <a:cxnLst/>
            <a:rect r="r" b="b" t="t" l="l"/>
            <a:pathLst>
              <a:path h="338361" w="1808909">
                <a:moveTo>
                  <a:pt x="0" y="0"/>
                </a:moveTo>
                <a:lnTo>
                  <a:pt x="1808909" y="0"/>
                </a:lnTo>
                <a:lnTo>
                  <a:pt x="1808909" y="338361"/>
                </a:lnTo>
                <a:lnTo>
                  <a:pt x="0" y="3383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0000"/>
            </a:blip>
            <a:stretch>
              <a:fillRect l="-107836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3600000">
            <a:off x="5862967" y="2507338"/>
            <a:ext cx="1808909" cy="338361"/>
          </a:xfrm>
          <a:custGeom>
            <a:avLst/>
            <a:gdLst/>
            <a:ahLst/>
            <a:cxnLst/>
            <a:rect r="r" b="b" t="t" l="l"/>
            <a:pathLst>
              <a:path h="338361" w="1808909">
                <a:moveTo>
                  <a:pt x="0" y="0"/>
                </a:moveTo>
                <a:lnTo>
                  <a:pt x="1808910" y="0"/>
                </a:lnTo>
                <a:lnTo>
                  <a:pt x="1808910" y="338361"/>
                </a:lnTo>
                <a:lnTo>
                  <a:pt x="0" y="3383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0000"/>
            </a:blip>
            <a:stretch>
              <a:fillRect l="-107836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3600000">
            <a:off x="5570856" y="7613034"/>
            <a:ext cx="1808909" cy="338361"/>
          </a:xfrm>
          <a:custGeom>
            <a:avLst/>
            <a:gdLst/>
            <a:ahLst/>
            <a:cxnLst/>
            <a:rect r="r" b="b" t="t" l="l"/>
            <a:pathLst>
              <a:path h="338361" w="1808909">
                <a:moveTo>
                  <a:pt x="0" y="0"/>
                </a:moveTo>
                <a:lnTo>
                  <a:pt x="1808909" y="0"/>
                </a:lnTo>
                <a:lnTo>
                  <a:pt x="1808909" y="338361"/>
                </a:lnTo>
                <a:lnTo>
                  <a:pt x="0" y="3383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0000"/>
            </a:blip>
            <a:stretch>
              <a:fillRect l="-107836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7200000">
            <a:off x="2623346" y="7434906"/>
            <a:ext cx="1808909" cy="338361"/>
          </a:xfrm>
          <a:custGeom>
            <a:avLst/>
            <a:gdLst/>
            <a:ahLst/>
            <a:cxnLst/>
            <a:rect r="r" b="b" t="t" l="l"/>
            <a:pathLst>
              <a:path h="338361" w="1808909">
                <a:moveTo>
                  <a:pt x="0" y="0"/>
                </a:moveTo>
                <a:lnTo>
                  <a:pt x="1808910" y="0"/>
                </a:lnTo>
                <a:lnTo>
                  <a:pt x="1808910" y="338361"/>
                </a:lnTo>
                <a:lnTo>
                  <a:pt x="0" y="3383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0000"/>
            </a:blip>
            <a:stretch>
              <a:fillRect l="-107836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10800000">
            <a:off x="1304427" y="4802869"/>
            <a:ext cx="1808909" cy="338361"/>
          </a:xfrm>
          <a:custGeom>
            <a:avLst/>
            <a:gdLst/>
            <a:ahLst/>
            <a:cxnLst/>
            <a:rect r="r" b="b" t="t" l="l"/>
            <a:pathLst>
              <a:path h="338361" w="1808909">
                <a:moveTo>
                  <a:pt x="0" y="0"/>
                </a:moveTo>
                <a:lnTo>
                  <a:pt x="1808910" y="0"/>
                </a:lnTo>
                <a:lnTo>
                  <a:pt x="1808910" y="338362"/>
                </a:lnTo>
                <a:lnTo>
                  <a:pt x="0" y="3383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0000"/>
            </a:blip>
            <a:stretch>
              <a:fillRect l="-107836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-7200000">
            <a:off x="2919870" y="2351954"/>
            <a:ext cx="1808909" cy="338361"/>
          </a:xfrm>
          <a:custGeom>
            <a:avLst/>
            <a:gdLst/>
            <a:ahLst/>
            <a:cxnLst/>
            <a:rect r="r" b="b" t="t" l="l"/>
            <a:pathLst>
              <a:path h="338361" w="1808909">
                <a:moveTo>
                  <a:pt x="0" y="0"/>
                </a:moveTo>
                <a:lnTo>
                  <a:pt x="1808910" y="0"/>
                </a:lnTo>
                <a:lnTo>
                  <a:pt x="1808910" y="338361"/>
                </a:lnTo>
                <a:lnTo>
                  <a:pt x="0" y="3383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0000"/>
            </a:blip>
            <a:stretch>
              <a:fillRect l="-107836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928899" y="1799529"/>
            <a:ext cx="448252" cy="417180"/>
          </a:xfrm>
          <a:custGeom>
            <a:avLst/>
            <a:gdLst/>
            <a:ahLst/>
            <a:cxnLst/>
            <a:rect r="r" b="b" t="t" l="l"/>
            <a:pathLst>
              <a:path h="417180" w="448252">
                <a:moveTo>
                  <a:pt x="0" y="0"/>
                </a:moveTo>
                <a:lnTo>
                  <a:pt x="448252" y="0"/>
                </a:lnTo>
                <a:lnTo>
                  <a:pt x="448252" y="417180"/>
                </a:lnTo>
                <a:lnTo>
                  <a:pt x="0" y="4171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3361831" y="4564040"/>
            <a:ext cx="354936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b="true" sz="2079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OUR SOLUTION</a:t>
            </a:r>
          </a:p>
          <a:p>
            <a:pPr algn="ctr">
              <a:lnSpc>
                <a:spcPts val="6455"/>
              </a:lnSpc>
            </a:pPr>
            <a:r>
              <a:rPr lang="en-US" b="true" sz="5379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H.E.A.L AI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54598" y="4078719"/>
            <a:ext cx="2089932" cy="93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5"/>
              </a:lnSpc>
            </a:pPr>
            <a:r>
              <a:rPr lang="en-US" b="true" sz="238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Insurance Coverage Clarity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475311" y="6728610"/>
            <a:ext cx="1968301" cy="71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</a:pPr>
            <a:r>
              <a:rPr lang="en-US" b="true" sz="267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Error Detection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49314" y="8030563"/>
            <a:ext cx="2407423" cy="68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3"/>
              </a:lnSpc>
            </a:pPr>
            <a:r>
              <a:rPr lang="en-US" b="true" sz="25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Patient Health Integration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83763" y="4013359"/>
            <a:ext cx="1907043" cy="65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4"/>
              </a:lnSpc>
            </a:pPr>
            <a:r>
              <a:rPr lang="en-US" b="true" sz="24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Emergency QR Code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7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988418"/>
            <a:ext cx="2219364" cy="2173460"/>
            <a:chOff x="0" y="0"/>
            <a:chExt cx="6350000" cy="6218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925320"/>
              <a:ext cx="3175000" cy="4293338"/>
            </a:xfrm>
            <a:custGeom>
              <a:avLst/>
              <a:gdLst/>
              <a:ahLst/>
              <a:cxnLst/>
              <a:rect r="r" b="b" t="t" l="l"/>
              <a:pathLst>
                <a:path h="4293338" w="3175000">
                  <a:moveTo>
                    <a:pt x="3175000" y="2179393"/>
                  </a:moveTo>
                  <a:lnTo>
                    <a:pt x="3175000" y="1925320"/>
                  </a:lnTo>
                  <a:lnTo>
                    <a:pt x="0" y="1925320"/>
                  </a:lnTo>
                  <a:lnTo>
                    <a:pt x="0" y="2368018"/>
                  </a:lnTo>
                  <a:lnTo>
                    <a:pt x="3175000" y="2368018"/>
                  </a:lnTo>
                  <a:lnTo>
                    <a:pt x="3175000" y="2179393"/>
                  </a:lnTo>
                  <a:close/>
                  <a:moveTo>
                    <a:pt x="0" y="2368018"/>
                  </a:moveTo>
                  <a:lnTo>
                    <a:pt x="3175000" y="4293338"/>
                  </a:lnTo>
                  <a:lnTo>
                    <a:pt x="3175000" y="2368018"/>
                  </a:lnTo>
                  <a:lnTo>
                    <a:pt x="0" y="2368018"/>
                  </a:lnTo>
                  <a:close/>
                  <a:moveTo>
                    <a:pt x="0" y="0"/>
                  </a:moveTo>
                  <a:lnTo>
                    <a:pt x="3175000" y="0"/>
                  </a:lnTo>
                  <a:lnTo>
                    <a:pt x="3175000" y="1925320"/>
                  </a:lnTo>
                  <a:lnTo>
                    <a:pt x="0" y="1925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1B8A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175000" y="1925320"/>
              <a:ext cx="3175000" cy="4293338"/>
            </a:xfrm>
            <a:custGeom>
              <a:avLst/>
              <a:gdLst/>
              <a:ahLst/>
              <a:cxnLst/>
              <a:rect r="r" b="b" t="t" l="l"/>
              <a:pathLst>
                <a:path h="4293338" w="3175000">
                  <a:moveTo>
                    <a:pt x="0" y="1925320"/>
                  </a:moveTo>
                  <a:lnTo>
                    <a:pt x="0" y="2368019"/>
                  </a:lnTo>
                  <a:lnTo>
                    <a:pt x="3175000" y="2368019"/>
                  </a:lnTo>
                  <a:lnTo>
                    <a:pt x="3175000" y="1925320"/>
                  </a:lnTo>
                  <a:lnTo>
                    <a:pt x="0" y="1925320"/>
                  </a:lnTo>
                  <a:close/>
                  <a:moveTo>
                    <a:pt x="0" y="0"/>
                  </a:moveTo>
                  <a:lnTo>
                    <a:pt x="3175000" y="0"/>
                  </a:lnTo>
                  <a:lnTo>
                    <a:pt x="3175000" y="1925320"/>
                  </a:lnTo>
                  <a:lnTo>
                    <a:pt x="0" y="1925320"/>
                  </a:lnTo>
                  <a:lnTo>
                    <a:pt x="0" y="0"/>
                  </a:lnTo>
                  <a:close/>
                  <a:moveTo>
                    <a:pt x="0" y="4293338"/>
                  </a:moveTo>
                  <a:lnTo>
                    <a:pt x="3175000" y="2368018"/>
                  </a:lnTo>
                  <a:lnTo>
                    <a:pt x="0" y="2368018"/>
                  </a:lnTo>
                  <a:lnTo>
                    <a:pt x="0" y="4293338"/>
                  </a:lnTo>
                  <a:close/>
                </a:path>
              </a:pathLst>
            </a:custGeom>
            <a:solidFill>
              <a:srgbClr val="A9CFB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3850640"/>
            </a:xfrm>
            <a:custGeom>
              <a:avLst/>
              <a:gdLst/>
              <a:ahLst/>
              <a:cxnLst/>
              <a:rect r="r" b="b" t="t" l="l"/>
              <a:pathLst>
                <a:path h="3850640" w="6350000">
                  <a:moveTo>
                    <a:pt x="3175000" y="3850640"/>
                  </a:moveTo>
                  <a:lnTo>
                    <a:pt x="0" y="1925320"/>
                  </a:lnTo>
                  <a:lnTo>
                    <a:pt x="3175000" y="0"/>
                  </a:lnTo>
                  <a:lnTo>
                    <a:pt x="6350000" y="1925320"/>
                  </a:lnTo>
                  <a:lnTo>
                    <a:pt x="3175000" y="3850640"/>
                  </a:lnTo>
                  <a:close/>
                </a:path>
              </a:pathLst>
            </a:custGeom>
            <a:solidFill>
              <a:srgbClr val="BADBC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9682" y="6506570"/>
            <a:ext cx="2219364" cy="2173460"/>
            <a:chOff x="0" y="0"/>
            <a:chExt cx="6350000" cy="62186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925320"/>
              <a:ext cx="3175000" cy="4293338"/>
            </a:xfrm>
            <a:custGeom>
              <a:avLst/>
              <a:gdLst/>
              <a:ahLst/>
              <a:cxnLst/>
              <a:rect r="r" b="b" t="t" l="l"/>
              <a:pathLst>
                <a:path h="4293338" w="3175000">
                  <a:moveTo>
                    <a:pt x="3175000" y="2179393"/>
                  </a:moveTo>
                  <a:lnTo>
                    <a:pt x="3175000" y="1925320"/>
                  </a:lnTo>
                  <a:lnTo>
                    <a:pt x="0" y="1925320"/>
                  </a:lnTo>
                  <a:lnTo>
                    <a:pt x="0" y="2368018"/>
                  </a:lnTo>
                  <a:lnTo>
                    <a:pt x="3175000" y="2368018"/>
                  </a:lnTo>
                  <a:lnTo>
                    <a:pt x="3175000" y="2179393"/>
                  </a:lnTo>
                  <a:close/>
                  <a:moveTo>
                    <a:pt x="0" y="2368018"/>
                  </a:moveTo>
                  <a:lnTo>
                    <a:pt x="3175000" y="4293338"/>
                  </a:lnTo>
                  <a:lnTo>
                    <a:pt x="3175000" y="2368018"/>
                  </a:lnTo>
                  <a:lnTo>
                    <a:pt x="0" y="2368018"/>
                  </a:lnTo>
                  <a:close/>
                  <a:moveTo>
                    <a:pt x="0" y="0"/>
                  </a:moveTo>
                  <a:lnTo>
                    <a:pt x="3175000" y="0"/>
                  </a:lnTo>
                  <a:lnTo>
                    <a:pt x="3175000" y="1925320"/>
                  </a:lnTo>
                  <a:lnTo>
                    <a:pt x="0" y="1925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B687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75000" y="1925320"/>
              <a:ext cx="3175000" cy="4293338"/>
            </a:xfrm>
            <a:custGeom>
              <a:avLst/>
              <a:gdLst/>
              <a:ahLst/>
              <a:cxnLst/>
              <a:rect r="r" b="b" t="t" l="l"/>
              <a:pathLst>
                <a:path h="4293338" w="3175000">
                  <a:moveTo>
                    <a:pt x="0" y="1925320"/>
                  </a:moveTo>
                  <a:lnTo>
                    <a:pt x="0" y="2368019"/>
                  </a:lnTo>
                  <a:lnTo>
                    <a:pt x="3175000" y="2368019"/>
                  </a:lnTo>
                  <a:lnTo>
                    <a:pt x="3175000" y="1925320"/>
                  </a:lnTo>
                  <a:lnTo>
                    <a:pt x="0" y="1925320"/>
                  </a:lnTo>
                  <a:close/>
                  <a:moveTo>
                    <a:pt x="0" y="0"/>
                  </a:moveTo>
                  <a:lnTo>
                    <a:pt x="3175000" y="0"/>
                  </a:lnTo>
                  <a:lnTo>
                    <a:pt x="3175000" y="1925320"/>
                  </a:lnTo>
                  <a:lnTo>
                    <a:pt x="0" y="1925320"/>
                  </a:lnTo>
                  <a:lnTo>
                    <a:pt x="0" y="0"/>
                  </a:lnTo>
                  <a:close/>
                  <a:moveTo>
                    <a:pt x="0" y="4293338"/>
                  </a:moveTo>
                  <a:lnTo>
                    <a:pt x="3175000" y="2368018"/>
                  </a:lnTo>
                  <a:lnTo>
                    <a:pt x="0" y="2368018"/>
                  </a:lnTo>
                  <a:lnTo>
                    <a:pt x="0" y="4293338"/>
                  </a:lnTo>
                  <a:close/>
                </a:path>
              </a:pathLst>
            </a:custGeom>
            <a:solidFill>
              <a:srgbClr val="E1C1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3850640"/>
            </a:xfrm>
            <a:custGeom>
              <a:avLst/>
              <a:gdLst/>
              <a:ahLst/>
              <a:cxnLst/>
              <a:rect r="r" b="b" t="t" l="l"/>
              <a:pathLst>
                <a:path h="3850640" w="6350000">
                  <a:moveTo>
                    <a:pt x="3175000" y="3850640"/>
                  </a:moveTo>
                  <a:lnTo>
                    <a:pt x="0" y="1925320"/>
                  </a:lnTo>
                  <a:lnTo>
                    <a:pt x="3175000" y="0"/>
                  </a:lnTo>
                  <a:lnTo>
                    <a:pt x="6350000" y="1925320"/>
                  </a:lnTo>
                  <a:lnTo>
                    <a:pt x="3175000" y="3850640"/>
                  </a:lnTo>
                  <a:close/>
                </a:path>
              </a:pathLst>
            </a:custGeom>
            <a:solidFill>
              <a:srgbClr val="F6D5A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19364" y="5008758"/>
            <a:ext cx="2219364" cy="2173460"/>
            <a:chOff x="0" y="0"/>
            <a:chExt cx="6350000" cy="62186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925320"/>
              <a:ext cx="3175000" cy="4293338"/>
            </a:xfrm>
            <a:custGeom>
              <a:avLst/>
              <a:gdLst/>
              <a:ahLst/>
              <a:cxnLst/>
              <a:rect r="r" b="b" t="t" l="l"/>
              <a:pathLst>
                <a:path h="4293338" w="3175000">
                  <a:moveTo>
                    <a:pt x="3175000" y="2179393"/>
                  </a:moveTo>
                  <a:lnTo>
                    <a:pt x="3175000" y="1925320"/>
                  </a:lnTo>
                  <a:lnTo>
                    <a:pt x="0" y="1925320"/>
                  </a:lnTo>
                  <a:lnTo>
                    <a:pt x="0" y="2368018"/>
                  </a:lnTo>
                  <a:lnTo>
                    <a:pt x="3175000" y="2368018"/>
                  </a:lnTo>
                  <a:lnTo>
                    <a:pt x="3175000" y="2179393"/>
                  </a:lnTo>
                  <a:close/>
                  <a:moveTo>
                    <a:pt x="0" y="2368018"/>
                  </a:moveTo>
                  <a:lnTo>
                    <a:pt x="3175000" y="4293338"/>
                  </a:lnTo>
                  <a:lnTo>
                    <a:pt x="3175000" y="2368018"/>
                  </a:lnTo>
                  <a:lnTo>
                    <a:pt x="0" y="2368018"/>
                  </a:lnTo>
                  <a:close/>
                  <a:moveTo>
                    <a:pt x="0" y="0"/>
                  </a:moveTo>
                  <a:lnTo>
                    <a:pt x="3175000" y="0"/>
                  </a:lnTo>
                  <a:lnTo>
                    <a:pt x="3175000" y="1925320"/>
                  </a:lnTo>
                  <a:lnTo>
                    <a:pt x="0" y="1925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7A9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75000" y="1925320"/>
              <a:ext cx="3175000" cy="4293338"/>
            </a:xfrm>
            <a:custGeom>
              <a:avLst/>
              <a:gdLst/>
              <a:ahLst/>
              <a:cxnLst/>
              <a:rect r="r" b="b" t="t" l="l"/>
              <a:pathLst>
                <a:path h="4293338" w="3175000">
                  <a:moveTo>
                    <a:pt x="0" y="1925320"/>
                  </a:moveTo>
                  <a:lnTo>
                    <a:pt x="0" y="2368019"/>
                  </a:lnTo>
                  <a:lnTo>
                    <a:pt x="3175000" y="2368019"/>
                  </a:lnTo>
                  <a:lnTo>
                    <a:pt x="3175000" y="1925320"/>
                  </a:lnTo>
                  <a:lnTo>
                    <a:pt x="0" y="1925320"/>
                  </a:lnTo>
                  <a:close/>
                  <a:moveTo>
                    <a:pt x="0" y="0"/>
                  </a:moveTo>
                  <a:lnTo>
                    <a:pt x="3175000" y="0"/>
                  </a:lnTo>
                  <a:lnTo>
                    <a:pt x="3175000" y="1925320"/>
                  </a:lnTo>
                  <a:lnTo>
                    <a:pt x="0" y="1925320"/>
                  </a:lnTo>
                  <a:lnTo>
                    <a:pt x="0" y="0"/>
                  </a:lnTo>
                  <a:close/>
                  <a:moveTo>
                    <a:pt x="0" y="4293338"/>
                  </a:moveTo>
                  <a:lnTo>
                    <a:pt x="3175000" y="2368018"/>
                  </a:lnTo>
                  <a:lnTo>
                    <a:pt x="0" y="2368018"/>
                  </a:lnTo>
                  <a:lnTo>
                    <a:pt x="0" y="4293338"/>
                  </a:lnTo>
                  <a:close/>
                </a:path>
              </a:pathLst>
            </a:custGeom>
            <a:solidFill>
              <a:srgbClr val="7190B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3850640"/>
            </a:xfrm>
            <a:custGeom>
              <a:avLst/>
              <a:gdLst/>
              <a:ahLst/>
              <a:cxnLst/>
              <a:rect r="r" b="b" t="t" l="l"/>
              <a:pathLst>
                <a:path h="3850640" w="6350000">
                  <a:moveTo>
                    <a:pt x="3175000" y="3850640"/>
                  </a:moveTo>
                  <a:lnTo>
                    <a:pt x="0" y="1925320"/>
                  </a:lnTo>
                  <a:lnTo>
                    <a:pt x="3175000" y="0"/>
                  </a:lnTo>
                  <a:lnTo>
                    <a:pt x="6350000" y="1925320"/>
                  </a:lnTo>
                  <a:lnTo>
                    <a:pt x="3175000" y="3850640"/>
                  </a:lnTo>
                  <a:close/>
                </a:path>
              </a:pathLst>
            </a:custGeom>
            <a:solidFill>
              <a:srgbClr val="7B99B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329047" y="3526910"/>
            <a:ext cx="2219364" cy="2173460"/>
            <a:chOff x="0" y="0"/>
            <a:chExt cx="6350000" cy="62186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1925320"/>
              <a:ext cx="3175000" cy="4293338"/>
            </a:xfrm>
            <a:custGeom>
              <a:avLst/>
              <a:gdLst/>
              <a:ahLst/>
              <a:cxnLst/>
              <a:rect r="r" b="b" t="t" l="l"/>
              <a:pathLst>
                <a:path h="4293338" w="3175000">
                  <a:moveTo>
                    <a:pt x="3175000" y="2179393"/>
                  </a:moveTo>
                  <a:lnTo>
                    <a:pt x="3175000" y="1925320"/>
                  </a:lnTo>
                  <a:lnTo>
                    <a:pt x="0" y="1925320"/>
                  </a:lnTo>
                  <a:lnTo>
                    <a:pt x="0" y="2368018"/>
                  </a:lnTo>
                  <a:lnTo>
                    <a:pt x="3175000" y="2368018"/>
                  </a:lnTo>
                  <a:lnTo>
                    <a:pt x="3175000" y="2179393"/>
                  </a:lnTo>
                  <a:close/>
                  <a:moveTo>
                    <a:pt x="0" y="2368018"/>
                  </a:moveTo>
                  <a:lnTo>
                    <a:pt x="3175000" y="4293338"/>
                  </a:lnTo>
                  <a:lnTo>
                    <a:pt x="3175000" y="2368018"/>
                  </a:lnTo>
                  <a:lnTo>
                    <a:pt x="0" y="2368018"/>
                  </a:lnTo>
                  <a:close/>
                  <a:moveTo>
                    <a:pt x="0" y="0"/>
                  </a:moveTo>
                  <a:lnTo>
                    <a:pt x="3175000" y="0"/>
                  </a:lnTo>
                  <a:lnTo>
                    <a:pt x="3175000" y="1925320"/>
                  </a:lnTo>
                  <a:lnTo>
                    <a:pt x="0" y="1925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839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175000" y="1925320"/>
              <a:ext cx="3175000" cy="4293338"/>
            </a:xfrm>
            <a:custGeom>
              <a:avLst/>
              <a:gdLst/>
              <a:ahLst/>
              <a:cxnLst/>
              <a:rect r="r" b="b" t="t" l="l"/>
              <a:pathLst>
                <a:path h="4293338" w="3175000">
                  <a:moveTo>
                    <a:pt x="0" y="1925320"/>
                  </a:moveTo>
                  <a:lnTo>
                    <a:pt x="0" y="2368019"/>
                  </a:lnTo>
                  <a:lnTo>
                    <a:pt x="3175000" y="2368019"/>
                  </a:lnTo>
                  <a:lnTo>
                    <a:pt x="3175000" y="1925320"/>
                  </a:lnTo>
                  <a:lnTo>
                    <a:pt x="0" y="1925320"/>
                  </a:lnTo>
                  <a:close/>
                  <a:moveTo>
                    <a:pt x="0" y="0"/>
                  </a:moveTo>
                  <a:lnTo>
                    <a:pt x="3175000" y="0"/>
                  </a:lnTo>
                  <a:lnTo>
                    <a:pt x="3175000" y="1925320"/>
                  </a:lnTo>
                  <a:lnTo>
                    <a:pt x="0" y="1925320"/>
                  </a:lnTo>
                  <a:lnTo>
                    <a:pt x="0" y="0"/>
                  </a:lnTo>
                  <a:close/>
                  <a:moveTo>
                    <a:pt x="0" y="4293338"/>
                  </a:moveTo>
                  <a:lnTo>
                    <a:pt x="3175000" y="2368018"/>
                  </a:lnTo>
                  <a:lnTo>
                    <a:pt x="0" y="2368018"/>
                  </a:lnTo>
                  <a:lnTo>
                    <a:pt x="0" y="4293338"/>
                  </a:lnTo>
                  <a:close/>
                </a:path>
              </a:pathLst>
            </a:custGeom>
            <a:solidFill>
              <a:srgbClr val="DF91A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3850640"/>
            </a:xfrm>
            <a:custGeom>
              <a:avLst/>
              <a:gdLst/>
              <a:ahLst/>
              <a:cxnLst/>
              <a:rect r="r" b="b" t="t" l="l"/>
              <a:pathLst>
                <a:path h="3850640" w="6350000">
                  <a:moveTo>
                    <a:pt x="3175000" y="3850640"/>
                  </a:moveTo>
                  <a:lnTo>
                    <a:pt x="0" y="1925320"/>
                  </a:lnTo>
                  <a:lnTo>
                    <a:pt x="3175000" y="0"/>
                  </a:lnTo>
                  <a:lnTo>
                    <a:pt x="6350000" y="1925320"/>
                  </a:lnTo>
                  <a:lnTo>
                    <a:pt x="3175000" y="3850640"/>
                  </a:lnTo>
                  <a:close/>
                </a:path>
              </a:pathLst>
            </a:custGeom>
            <a:solidFill>
              <a:srgbClr val="E69BA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438729" y="2030536"/>
            <a:ext cx="2219364" cy="2173460"/>
            <a:chOff x="0" y="0"/>
            <a:chExt cx="6350000" cy="62186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1925320"/>
              <a:ext cx="3175000" cy="4293338"/>
            </a:xfrm>
            <a:custGeom>
              <a:avLst/>
              <a:gdLst/>
              <a:ahLst/>
              <a:cxnLst/>
              <a:rect r="r" b="b" t="t" l="l"/>
              <a:pathLst>
                <a:path h="4293338" w="3175000">
                  <a:moveTo>
                    <a:pt x="3175000" y="2179393"/>
                  </a:moveTo>
                  <a:lnTo>
                    <a:pt x="3175000" y="1925320"/>
                  </a:lnTo>
                  <a:lnTo>
                    <a:pt x="0" y="1925320"/>
                  </a:lnTo>
                  <a:lnTo>
                    <a:pt x="0" y="2368018"/>
                  </a:lnTo>
                  <a:lnTo>
                    <a:pt x="3175000" y="2368018"/>
                  </a:lnTo>
                  <a:lnTo>
                    <a:pt x="3175000" y="2179393"/>
                  </a:lnTo>
                  <a:close/>
                  <a:moveTo>
                    <a:pt x="0" y="2368018"/>
                  </a:moveTo>
                  <a:lnTo>
                    <a:pt x="3175000" y="4293338"/>
                  </a:lnTo>
                  <a:lnTo>
                    <a:pt x="3175000" y="2368018"/>
                  </a:lnTo>
                  <a:lnTo>
                    <a:pt x="0" y="2368018"/>
                  </a:lnTo>
                  <a:close/>
                  <a:moveTo>
                    <a:pt x="0" y="0"/>
                  </a:moveTo>
                  <a:lnTo>
                    <a:pt x="3175000" y="0"/>
                  </a:lnTo>
                  <a:lnTo>
                    <a:pt x="3175000" y="1925320"/>
                  </a:lnTo>
                  <a:lnTo>
                    <a:pt x="0" y="1925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9AC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175000" y="1925320"/>
              <a:ext cx="3175000" cy="4293338"/>
            </a:xfrm>
            <a:custGeom>
              <a:avLst/>
              <a:gdLst/>
              <a:ahLst/>
              <a:cxnLst/>
              <a:rect r="r" b="b" t="t" l="l"/>
              <a:pathLst>
                <a:path h="4293338" w="3175000">
                  <a:moveTo>
                    <a:pt x="0" y="1925320"/>
                  </a:moveTo>
                  <a:lnTo>
                    <a:pt x="0" y="2368019"/>
                  </a:lnTo>
                  <a:lnTo>
                    <a:pt x="3175000" y="2368019"/>
                  </a:lnTo>
                  <a:lnTo>
                    <a:pt x="3175000" y="1925320"/>
                  </a:lnTo>
                  <a:lnTo>
                    <a:pt x="0" y="1925320"/>
                  </a:lnTo>
                  <a:close/>
                  <a:moveTo>
                    <a:pt x="0" y="0"/>
                  </a:moveTo>
                  <a:lnTo>
                    <a:pt x="3175000" y="0"/>
                  </a:lnTo>
                  <a:lnTo>
                    <a:pt x="3175000" y="1925320"/>
                  </a:lnTo>
                  <a:lnTo>
                    <a:pt x="0" y="1925320"/>
                  </a:lnTo>
                  <a:lnTo>
                    <a:pt x="0" y="0"/>
                  </a:lnTo>
                  <a:close/>
                  <a:moveTo>
                    <a:pt x="0" y="4293338"/>
                  </a:moveTo>
                  <a:lnTo>
                    <a:pt x="3175000" y="2368018"/>
                  </a:lnTo>
                  <a:lnTo>
                    <a:pt x="0" y="2368018"/>
                  </a:lnTo>
                  <a:lnTo>
                    <a:pt x="0" y="4293338"/>
                  </a:lnTo>
                  <a:close/>
                </a:path>
              </a:pathLst>
            </a:custGeom>
            <a:solidFill>
              <a:srgbClr val="C7A8C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3850640"/>
            </a:xfrm>
            <a:custGeom>
              <a:avLst/>
              <a:gdLst/>
              <a:ahLst/>
              <a:cxnLst/>
              <a:rect r="r" b="b" t="t" l="l"/>
              <a:pathLst>
                <a:path h="3850640" w="6350000">
                  <a:moveTo>
                    <a:pt x="3175000" y="3850640"/>
                  </a:moveTo>
                  <a:lnTo>
                    <a:pt x="0" y="1925320"/>
                  </a:lnTo>
                  <a:lnTo>
                    <a:pt x="3175000" y="0"/>
                  </a:lnTo>
                  <a:lnTo>
                    <a:pt x="6350000" y="1925320"/>
                  </a:lnTo>
                  <a:lnTo>
                    <a:pt x="3175000" y="3850640"/>
                  </a:lnTo>
                  <a:close/>
                </a:path>
              </a:pathLst>
            </a:custGeom>
            <a:solidFill>
              <a:srgbClr val="D6BAD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95074" y="8257119"/>
            <a:ext cx="142921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3B3B3B"/>
                </a:solidFill>
                <a:latin typeface="Bernoru"/>
                <a:ea typeface="Bernoru"/>
                <a:cs typeface="Bernoru"/>
                <a:sym typeface="Bernoru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4756" y="6772640"/>
            <a:ext cx="142921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3B3B3B"/>
                </a:solidFill>
                <a:latin typeface="Bernoru"/>
                <a:ea typeface="Bernoru"/>
                <a:cs typeface="Bernoru"/>
                <a:sym typeface="Bernoru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14439" y="5269422"/>
            <a:ext cx="142921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3B3B3B"/>
                </a:solidFill>
                <a:latin typeface="Bernoru"/>
                <a:ea typeface="Bernoru"/>
                <a:cs typeface="Bernoru"/>
                <a:sym typeface="Bernoru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24121" y="3877362"/>
            <a:ext cx="142921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3B3B3B"/>
                </a:solidFill>
                <a:latin typeface="Bernoru"/>
                <a:ea typeface="Bernoru"/>
                <a:cs typeface="Bernoru"/>
                <a:sym typeface="Bernoru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33803" y="2356874"/>
            <a:ext cx="142921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3B3B3B"/>
                </a:solidFill>
                <a:latin typeface="Bernoru"/>
                <a:ea typeface="Bernoru"/>
                <a:cs typeface="Bernoru"/>
                <a:sym typeface="Bernoru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125106"/>
            <a:ext cx="8654532" cy="159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4"/>
              </a:lnSpc>
            </a:pPr>
            <a:r>
              <a:rPr lang="en-US" sz="5162" b="true">
                <a:solidFill>
                  <a:srgbClr val="247CB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H.E.A.L</a:t>
            </a:r>
            <a:r>
              <a:rPr lang="en-US" sz="516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162" b="true">
                <a:solidFill>
                  <a:srgbClr val="EB489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</a:t>
            </a:r>
            <a:r>
              <a:rPr lang="en-US" sz="516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</a:t>
            </a:r>
          </a:p>
          <a:p>
            <a:pPr algn="ctr">
              <a:lnSpc>
                <a:spcPts val="6194"/>
              </a:lnSpc>
            </a:pPr>
            <a:r>
              <a:rPr lang="en-US" b="true" sz="51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 - Demo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18007" y="8870529"/>
            <a:ext cx="7923017" cy="363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261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</a:t>
            </a:r>
            <a:r>
              <a:rPr lang="en-US" b="true" sz="26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 chatbot to upload bills, ask questions, or take photos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391365" y="7444431"/>
            <a:ext cx="6895635" cy="33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6"/>
              </a:lnSpc>
            </a:pPr>
            <a:r>
              <a:rPr lang="en-US" sz="242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Insurance | Bills | Medical History | Disputes/Errors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40492" y="5904763"/>
            <a:ext cx="5746508" cy="62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235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 flags for duplicate or suspicious charges</a:t>
            </a:r>
          </a:p>
          <a:p>
            <a:pPr algn="l">
              <a:lnSpc>
                <a:spcPts val="235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5645945" y="4332387"/>
            <a:ext cx="4641055" cy="65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4"/>
              </a:lnSpc>
            </a:pPr>
            <a:r>
              <a:rPr lang="en-US" sz="250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Clear summaries for patients and families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85227" y="2461649"/>
            <a:ext cx="3455797" cy="103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6"/>
              </a:lnSpc>
            </a:pPr>
            <a:r>
              <a:rPr lang="en-US" sz="260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Scan to access insurance + medical history instantly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" t="-1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762015" y="4311198"/>
            <a:ext cx="4496355" cy="2276280"/>
          </a:xfrm>
          <a:custGeom>
            <a:avLst/>
            <a:gdLst/>
            <a:ahLst/>
            <a:cxnLst/>
            <a:rect r="r" b="b" t="t" l="l"/>
            <a:pathLst>
              <a:path h="2276280" w="4496355">
                <a:moveTo>
                  <a:pt x="0" y="0"/>
                </a:moveTo>
                <a:lnTo>
                  <a:pt x="4496355" y="0"/>
                </a:lnTo>
                <a:lnTo>
                  <a:pt x="4496355" y="2276280"/>
                </a:lnTo>
                <a:lnTo>
                  <a:pt x="0" y="2276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2605975" y="2380282"/>
            <a:ext cx="1084143" cy="9085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3749148" y="3943928"/>
            <a:ext cx="571967" cy="694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262317" y="5454332"/>
            <a:ext cx="1067706" cy="391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748406" y="6851245"/>
            <a:ext cx="574773" cy="9253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651226" y="7652021"/>
            <a:ext cx="749670" cy="6540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3550442"/>
            <a:ext cx="3744105" cy="3780450"/>
            <a:chOff x="0" y="0"/>
            <a:chExt cx="80498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4986" cy="812800"/>
            </a:xfrm>
            <a:custGeom>
              <a:avLst/>
              <a:gdLst/>
              <a:ahLst/>
              <a:cxnLst/>
              <a:rect r="r" b="b" t="t" l="l"/>
              <a:pathLst>
                <a:path h="812800" w="804986">
                  <a:moveTo>
                    <a:pt x="402493" y="0"/>
                  </a:moveTo>
                  <a:cubicBezTo>
                    <a:pt x="180202" y="0"/>
                    <a:pt x="0" y="181951"/>
                    <a:pt x="0" y="406400"/>
                  </a:cubicBezTo>
                  <a:cubicBezTo>
                    <a:pt x="0" y="630849"/>
                    <a:pt x="180202" y="812800"/>
                    <a:pt x="402493" y="812800"/>
                  </a:cubicBezTo>
                  <a:cubicBezTo>
                    <a:pt x="624784" y="812800"/>
                    <a:pt x="804986" y="630849"/>
                    <a:pt x="804986" y="406400"/>
                  </a:cubicBezTo>
                  <a:cubicBezTo>
                    <a:pt x="804986" y="181951"/>
                    <a:pt x="624784" y="0"/>
                    <a:pt x="4024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5467" y="28575"/>
              <a:ext cx="654051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5920" y="3754534"/>
            <a:ext cx="3372266" cy="3372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4A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90118" y="1619931"/>
            <a:ext cx="5310739" cy="1520702"/>
            <a:chOff x="0" y="0"/>
            <a:chExt cx="1419269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9269" cy="406400"/>
            </a:xfrm>
            <a:custGeom>
              <a:avLst/>
              <a:gdLst/>
              <a:ahLst/>
              <a:cxnLst/>
              <a:rect r="r" b="b" t="t" l="l"/>
              <a:pathLst>
                <a:path h="406400" w="1419269">
                  <a:moveTo>
                    <a:pt x="1216069" y="0"/>
                  </a:moveTo>
                  <a:cubicBezTo>
                    <a:pt x="1328293" y="0"/>
                    <a:pt x="1419269" y="90976"/>
                    <a:pt x="1419269" y="203200"/>
                  </a:cubicBezTo>
                  <a:cubicBezTo>
                    <a:pt x="1419269" y="315424"/>
                    <a:pt x="1328293" y="406400"/>
                    <a:pt x="12160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9DBAF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41926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2166" y="3239498"/>
            <a:ext cx="5065806" cy="1450566"/>
            <a:chOff x="0" y="0"/>
            <a:chExt cx="1419269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9269" cy="406400"/>
            </a:xfrm>
            <a:custGeom>
              <a:avLst/>
              <a:gdLst/>
              <a:ahLst/>
              <a:cxnLst/>
              <a:rect r="r" b="b" t="t" l="l"/>
              <a:pathLst>
                <a:path h="406400" w="1419269">
                  <a:moveTo>
                    <a:pt x="1216069" y="0"/>
                  </a:moveTo>
                  <a:cubicBezTo>
                    <a:pt x="1328293" y="0"/>
                    <a:pt x="1419269" y="90976"/>
                    <a:pt x="1419269" y="203200"/>
                  </a:cubicBezTo>
                  <a:cubicBezTo>
                    <a:pt x="1419269" y="315424"/>
                    <a:pt x="1328293" y="406400"/>
                    <a:pt x="12160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5E5D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41926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330023" y="4783738"/>
            <a:ext cx="4956977" cy="1419404"/>
            <a:chOff x="0" y="0"/>
            <a:chExt cx="1419269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19269" cy="406400"/>
            </a:xfrm>
            <a:custGeom>
              <a:avLst/>
              <a:gdLst/>
              <a:ahLst/>
              <a:cxnLst/>
              <a:rect r="r" b="b" t="t" l="l"/>
              <a:pathLst>
                <a:path h="406400" w="1419269">
                  <a:moveTo>
                    <a:pt x="1216069" y="0"/>
                  </a:moveTo>
                  <a:cubicBezTo>
                    <a:pt x="1328293" y="0"/>
                    <a:pt x="1419269" y="90976"/>
                    <a:pt x="1419269" y="203200"/>
                  </a:cubicBezTo>
                  <a:cubicBezTo>
                    <a:pt x="1419269" y="315424"/>
                    <a:pt x="1328293" y="406400"/>
                    <a:pt x="12160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D4A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41926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702166" y="6389341"/>
            <a:ext cx="5065806" cy="1450566"/>
            <a:chOff x="0" y="0"/>
            <a:chExt cx="1419269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9269" cy="406400"/>
            </a:xfrm>
            <a:custGeom>
              <a:avLst/>
              <a:gdLst/>
              <a:ahLst/>
              <a:cxnLst/>
              <a:rect r="r" b="b" t="t" l="l"/>
              <a:pathLst>
                <a:path h="406400" w="1419269">
                  <a:moveTo>
                    <a:pt x="1216069" y="0"/>
                  </a:moveTo>
                  <a:cubicBezTo>
                    <a:pt x="1328293" y="0"/>
                    <a:pt x="1419269" y="90976"/>
                    <a:pt x="1419269" y="203200"/>
                  </a:cubicBezTo>
                  <a:cubicBezTo>
                    <a:pt x="1419269" y="315424"/>
                    <a:pt x="1328293" y="406400"/>
                    <a:pt x="12160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CA0E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41926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690118" y="7942904"/>
            <a:ext cx="5310739" cy="1520702"/>
            <a:chOff x="0" y="0"/>
            <a:chExt cx="1419269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19269" cy="406400"/>
            </a:xfrm>
            <a:custGeom>
              <a:avLst/>
              <a:gdLst/>
              <a:ahLst/>
              <a:cxnLst/>
              <a:rect r="r" b="b" t="t" l="l"/>
              <a:pathLst>
                <a:path h="406400" w="1419269">
                  <a:moveTo>
                    <a:pt x="1216069" y="0"/>
                  </a:moveTo>
                  <a:cubicBezTo>
                    <a:pt x="1328293" y="0"/>
                    <a:pt x="1419269" y="90976"/>
                    <a:pt x="1419269" y="203200"/>
                  </a:cubicBezTo>
                  <a:cubicBezTo>
                    <a:pt x="1419269" y="315424"/>
                    <a:pt x="1328293" y="406400"/>
                    <a:pt x="12160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A4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41926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306308" y="1956508"/>
            <a:ext cx="767620" cy="76762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989530" y="5313689"/>
            <a:ext cx="272879" cy="271298"/>
            <a:chOff x="0" y="0"/>
            <a:chExt cx="307491" cy="3057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7491" cy="305710"/>
            </a:xfrm>
            <a:custGeom>
              <a:avLst/>
              <a:gdLst/>
              <a:ahLst/>
              <a:cxnLst/>
              <a:rect r="r" b="b" t="t" l="l"/>
              <a:pathLst>
                <a:path h="305710" w="307491">
                  <a:moveTo>
                    <a:pt x="153745" y="0"/>
                  </a:moveTo>
                  <a:cubicBezTo>
                    <a:pt x="68834" y="0"/>
                    <a:pt x="0" y="68435"/>
                    <a:pt x="0" y="152855"/>
                  </a:cubicBezTo>
                  <a:cubicBezTo>
                    <a:pt x="0" y="237274"/>
                    <a:pt x="68834" y="305710"/>
                    <a:pt x="153745" y="305710"/>
                  </a:cubicBezTo>
                  <a:cubicBezTo>
                    <a:pt x="238657" y="305710"/>
                    <a:pt x="307491" y="237274"/>
                    <a:pt x="307491" y="152855"/>
                  </a:cubicBezTo>
                  <a:cubicBezTo>
                    <a:pt x="307491" y="68435"/>
                    <a:pt x="238657" y="0"/>
                    <a:pt x="1537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28827" y="-18965"/>
              <a:ext cx="249836" cy="296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412231" y="3201160"/>
            <a:ext cx="272879" cy="271298"/>
            <a:chOff x="0" y="0"/>
            <a:chExt cx="307491" cy="3057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7491" cy="305710"/>
            </a:xfrm>
            <a:custGeom>
              <a:avLst/>
              <a:gdLst/>
              <a:ahLst/>
              <a:cxnLst/>
              <a:rect r="r" b="b" t="t" l="l"/>
              <a:pathLst>
                <a:path h="305710" w="307491">
                  <a:moveTo>
                    <a:pt x="153745" y="0"/>
                  </a:moveTo>
                  <a:cubicBezTo>
                    <a:pt x="68834" y="0"/>
                    <a:pt x="0" y="68435"/>
                    <a:pt x="0" y="152855"/>
                  </a:cubicBezTo>
                  <a:cubicBezTo>
                    <a:pt x="0" y="237274"/>
                    <a:pt x="68834" y="305710"/>
                    <a:pt x="153745" y="305710"/>
                  </a:cubicBezTo>
                  <a:cubicBezTo>
                    <a:pt x="238657" y="305710"/>
                    <a:pt x="307491" y="237274"/>
                    <a:pt x="307491" y="152855"/>
                  </a:cubicBezTo>
                  <a:cubicBezTo>
                    <a:pt x="307491" y="68435"/>
                    <a:pt x="238657" y="0"/>
                    <a:pt x="1537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28827" y="-18965"/>
              <a:ext cx="249836" cy="296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412231" y="7426901"/>
            <a:ext cx="272879" cy="271298"/>
            <a:chOff x="0" y="0"/>
            <a:chExt cx="307491" cy="30571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7491" cy="305710"/>
            </a:xfrm>
            <a:custGeom>
              <a:avLst/>
              <a:gdLst/>
              <a:ahLst/>
              <a:cxnLst/>
              <a:rect r="r" b="b" t="t" l="l"/>
              <a:pathLst>
                <a:path h="305710" w="307491">
                  <a:moveTo>
                    <a:pt x="153745" y="0"/>
                  </a:moveTo>
                  <a:cubicBezTo>
                    <a:pt x="68834" y="0"/>
                    <a:pt x="0" y="68435"/>
                    <a:pt x="0" y="152855"/>
                  </a:cubicBezTo>
                  <a:cubicBezTo>
                    <a:pt x="0" y="237274"/>
                    <a:pt x="68834" y="305710"/>
                    <a:pt x="153745" y="305710"/>
                  </a:cubicBezTo>
                  <a:cubicBezTo>
                    <a:pt x="238657" y="305710"/>
                    <a:pt x="307491" y="237274"/>
                    <a:pt x="307491" y="152855"/>
                  </a:cubicBezTo>
                  <a:cubicBezTo>
                    <a:pt x="307491" y="68435"/>
                    <a:pt x="238657" y="0"/>
                    <a:pt x="1537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28827" y="-18965"/>
              <a:ext cx="249836" cy="296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477262" y="6693909"/>
            <a:ext cx="272879" cy="271298"/>
            <a:chOff x="0" y="0"/>
            <a:chExt cx="307491" cy="3057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7491" cy="305710"/>
            </a:xfrm>
            <a:custGeom>
              <a:avLst/>
              <a:gdLst/>
              <a:ahLst/>
              <a:cxnLst/>
              <a:rect r="r" b="b" t="t" l="l"/>
              <a:pathLst>
                <a:path h="305710" w="307491">
                  <a:moveTo>
                    <a:pt x="153745" y="0"/>
                  </a:moveTo>
                  <a:cubicBezTo>
                    <a:pt x="68834" y="0"/>
                    <a:pt x="0" y="68435"/>
                    <a:pt x="0" y="152855"/>
                  </a:cubicBezTo>
                  <a:cubicBezTo>
                    <a:pt x="0" y="237274"/>
                    <a:pt x="68834" y="305710"/>
                    <a:pt x="153745" y="305710"/>
                  </a:cubicBezTo>
                  <a:cubicBezTo>
                    <a:pt x="238657" y="305710"/>
                    <a:pt x="307491" y="237274"/>
                    <a:pt x="307491" y="152855"/>
                  </a:cubicBezTo>
                  <a:cubicBezTo>
                    <a:pt x="307491" y="68435"/>
                    <a:pt x="238657" y="0"/>
                    <a:pt x="1537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28827" y="-18965"/>
              <a:ext cx="249836" cy="296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477262" y="3894154"/>
            <a:ext cx="272879" cy="271298"/>
            <a:chOff x="0" y="0"/>
            <a:chExt cx="307491" cy="30571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7491" cy="305710"/>
            </a:xfrm>
            <a:custGeom>
              <a:avLst/>
              <a:gdLst/>
              <a:ahLst/>
              <a:cxnLst/>
              <a:rect r="r" b="b" t="t" l="l"/>
              <a:pathLst>
                <a:path h="305710" w="307491">
                  <a:moveTo>
                    <a:pt x="153745" y="0"/>
                  </a:moveTo>
                  <a:cubicBezTo>
                    <a:pt x="68834" y="0"/>
                    <a:pt x="0" y="68435"/>
                    <a:pt x="0" y="152855"/>
                  </a:cubicBezTo>
                  <a:cubicBezTo>
                    <a:pt x="0" y="237274"/>
                    <a:pt x="68834" y="305710"/>
                    <a:pt x="153745" y="305710"/>
                  </a:cubicBezTo>
                  <a:cubicBezTo>
                    <a:pt x="238657" y="305710"/>
                    <a:pt x="307491" y="237274"/>
                    <a:pt x="307491" y="152855"/>
                  </a:cubicBezTo>
                  <a:cubicBezTo>
                    <a:pt x="307491" y="68435"/>
                    <a:pt x="238657" y="0"/>
                    <a:pt x="1537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28827" y="-18965"/>
              <a:ext cx="249836" cy="296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051025" y="5374828"/>
            <a:ext cx="149887" cy="149019"/>
            <a:chOff x="0" y="0"/>
            <a:chExt cx="153745" cy="15285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3745" cy="152855"/>
            </a:xfrm>
            <a:custGeom>
              <a:avLst/>
              <a:gdLst/>
              <a:ahLst/>
              <a:cxnLst/>
              <a:rect r="r" b="b" t="t" l="l"/>
              <a:pathLst>
                <a:path h="152855" w="153745">
                  <a:moveTo>
                    <a:pt x="76873" y="0"/>
                  </a:moveTo>
                  <a:cubicBezTo>
                    <a:pt x="34417" y="0"/>
                    <a:pt x="0" y="34218"/>
                    <a:pt x="0" y="76427"/>
                  </a:cubicBezTo>
                  <a:cubicBezTo>
                    <a:pt x="0" y="118637"/>
                    <a:pt x="34417" y="152855"/>
                    <a:pt x="76873" y="152855"/>
                  </a:cubicBezTo>
                  <a:cubicBezTo>
                    <a:pt x="119328" y="152855"/>
                    <a:pt x="153745" y="118637"/>
                    <a:pt x="153745" y="76427"/>
                  </a:cubicBezTo>
                  <a:cubicBezTo>
                    <a:pt x="153745" y="34218"/>
                    <a:pt x="119328" y="0"/>
                    <a:pt x="76873" y="0"/>
                  </a:cubicBezTo>
                  <a:close/>
                </a:path>
              </a:pathLst>
            </a:custGeom>
            <a:solidFill>
              <a:srgbClr val="FFD4A7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4414" y="-33295"/>
              <a:ext cx="124918" cy="17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473726" y="3262300"/>
            <a:ext cx="149887" cy="149019"/>
            <a:chOff x="0" y="0"/>
            <a:chExt cx="153745" cy="15285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3745" cy="152855"/>
            </a:xfrm>
            <a:custGeom>
              <a:avLst/>
              <a:gdLst/>
              <a:ahLst/>
              <a:cxnLst/>
              <a:rect r="r" b="b" t="t" l="l"/>
              <a:pathLst>
                <a:path h="152855" w="153745">
                  <a:moveTo>
                    <a:pt x="76873" y="0"/>
                  </a:moveTo>
                  <a:cubicBezTo>
                    <a:pt x="34417" y="0"/>
                    <a:pt x="0" y="34218"/>
                    <a:pt x="0" y="76427"/>
                  </a:cubicBezTo>
                  <a:cubicBezTo>
                    <a:pt x="0" y="118637"/>
                    <a:pt x="34417" y="152855"/>
                    <a:pt x="76873" y="152855"/>
                  </a:cubicBezTo>
                  <a:cubicBezTo>
                    <a:pt x="119328" y="152855"/>
                    <a:pt x="153745" y="118637"/>
                    <a:pt x="153745" y="76427"/>
                  </a:cubicBezTo>
                  <a:cubicBezTo>
                    <a:pt x="153745" y="34218"/>
                    <a:pt x="119328" y="0"/>
                    <a:pt x="76873" y="0"/>
                  </a:cubicBezTo>
                  <a:close/>
                </a:path>
              </a:pathLst>
            </a:custGeom>
            <a:solidFill>
              <a:srgbClr val="9DBAF4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4414" y="-33295"/>
              <a:ext cx="124918" cy="17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473726" y="7488041"/>
            <a:ext cx="149887" cy="149019"/>
            <a:chOff x="0" y="0"/>
            <a:chExt cx="153745" cy="15285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3745" cy="152855"/>
            </a:xfrm>
            <a:custGeom>
              <a:avLst/>
              <a:gdLst/>
              <a:ahLst/>
              <a:cxnLst/>
              <a:rect r="r" b="b" t="t" l="l"/>
              <a:pathLst>
                <a:path h="152855" w="153745">
                  <a:moveTo>
                    <a:pt x="76873" y="0"/>
                  </a:moveTo>
                  <a:cubicBezTo>
                    <a:pt x="34417" y="0"/>
                    <a:pt x="0" y="34218"/>
                    <a:pt x="0" y="76427"/>
                  </a:cubicBezTo>
                  <a:cubicBezTo>
                    <a:pt x="0" y="118637"/>
                    <a:pt x="34417" y="152855"/>
                    <a:pt x="76873" y="152855"/>
                  </a:cubicBezTo>
                  <a:cubicBezTo>
                    <a:pt x="119328" y="152855"/>
                    <a:pt x="153745" y="118637"/>
                    <a:pt x="153745" y="76427"/>
                  </a:cubicBezTo>
                  <a:cubicBezTo>
                    <a:pt x="153745" y="34218"/>
                    <a:pt x="119328" y="0"/>
                    <a:pt x="76873" y="0"/>
                  </a:cubicBezTo>
                  <a:close/>
                </a:path>
              </a:pathLst>
            </a:custGeom>
            <a:solidFill>
              <a:srgbClr val="F7A4D9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14414" y="-33295"/>
              <a:ext cx="124918" cy="17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538757" y="6755048"/>
            <a:ext cx="149887" cy="149019"/>
            <a:chOff x="0" y="0"/>
            <a:chExt cx="153745" cy="15285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3745" cy="152855"/>
            </a:xfrm>
            <a:custGeom>
              <a:avLst/>
              <a:gdLst/>
              <a:ahLst/>
              <a:cxnLst/>
              <a:rect r="r" b="b" t="t" l="l"/>
              <a:pathLst>
                <a:path h="152855" w="153745">
                  <a:moveTo>
                    <a:pt x="76873" y="0"/>
                  </a:moveTo>
                  <a:cubicBezTo>
                    <a:pt x="34417" y="0"/>
                    <a:pt x="0" y="34218"/>
                    <a:pt x="0" y="76427"/>
                  </a:cubicBezTo>
                  <a:cubicBezTo>
                    <a:pt x="0" y="118637"/>
                    <a:pt x="34417" y="152855"/>
                    <a:pt x="76873" y="152855"/>
                  </a:cubicBezTo>
                  <a:cubicBezTo>
                    <a:pt x="119328" y="152855"/>
                    <a:pt x="153745" y="118637"/>
                    <a:pt x="153745" y="76427"/>
                  </a:cubicBezTo>
                  <a:cubicBezTo>
                    <a:pt x="153745" y="34218"/>
                    <a:pt x="119328" y="0"/>
                    <a:pt x="76873" y="0"/>
                  </a:cubicBezTo>
                  <a:close/>
                </a:path>
              </a:pathLst>
            </a:custGeom>
            <a:solidFill>
              <a:srgbClr val="CCA0E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14414" y="-33295"/>
              <a:ext cx="124918" cy="17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538757" y="3955294"/>
            <a:ext cx="149887" cy="149019"/>
            <a:chOff x="0" y="0"/>
            <a:chExt cx="153745" cy="15285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3745" cy="152855"/>
            </a:xfrm>
            <a:custGeom>
              <a:avLst/>
              <a:gdLst/>
              <a:ahLst/>
              <a:cxnLst/>
              <a:rect r="r" b="b" t="t" l="l"/>
              <a:pathLst>
                <a:path h="152855" w="153745">
                  <a:moveTo>
                    <a:pt x="76873" y="0"/>
                  </a:moveTo>
                  <a:cubicBezTo>
                    <a:pt x="34417" y="0"/>
                    <a:pt x="0" y="34218"/>
                    <a:pt x="0" y="76427"/>
                  </a:cubicBezTo>
                  <a:cubicBezTo>
                    <a:pt x="0" y="118637"/>
                    <a:pt x="34417" y="152855"/>
                    <a:pt x="76873" y="152855"/>
                  </a:cubicBezTo>
                  <a:cubicBezTo>
                    <a:pt x="119328" y="152855"/>
                    <a:pt x="153745" y="118637"/>
                    <a:pt x="153745" y="76427"/>
                  </a:cubicBezTo>
                  <a:cubicBezTo>
                    <a:pt x="153745" y="34218"/>
                    <a:pt x="119328" y="0"/>
                    <a:pt x="76873" y="0"/>
                  </a:cubicBezTo>
                  <a:close/>
                </a:path>
              </a:pathLst>
            </a:custGeom>
            <a:solidFill>
              <a:srgbClr val="B5E5D0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14414" y="-33295"/>
              <a:ext cx="124918" cy="17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318356" y="3513861"/>
            <a:ext cx="767620" cy="767620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946213" y="5067423"/>
            <a:ext cx="767620" cy="767620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318356" y="6620985"/>
            <a:ext cx="767620" cy="767620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306308" y="8174547"/>
            <a:ext cx="767620" cy="767620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524785" y="4935326"/>
            <a:ext cx="2694536" cy="98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4"/>
              </a:lnSpc>
            </a:pPr>
            <a:r>
              <a:rPr lang="en-US" b="true" sz="316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MATTERS?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388047" y="1878354"/>
            <a:ext cx="3914881" cy="102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b="true" sz="196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PATIENTS GAIN CLARITY, CONFIDENCE, AND CONTROL OVER MEDICAL BILLS.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326264" y="2155462"/>
            <a:ext cx="724761" cy="33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sz="196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01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319894" y="3709299"/>
            <a:ext cx="724761" cy="33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sz="196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02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967643" y="5275589"/>
            <a:ext cx="724761" cy="33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sz="196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03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339785" y="6827545"/>
            <a:ext cx="724761" cy="33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sz="196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04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3327737" y="8377017"/>
            <a:ext cx="724761" cy="33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sz="196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05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148425" y="3466236"/>
            <a:ext cx="4437112" cy="102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b="true" sz="196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SAVES TIME &amp; MONEY BY PREVENTING OVERPAYMENT AND CATCHING DISPUTES EARLY.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828324" y="4955340"/>
            <a:ext cx="3914881" cy="102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b="true" sz="196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BUILDS TRUST BETWEEN PATIENTS, INSURERS, AND PROVIDERS.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252507" y="6573360"/>
            <a:ext cx="3914881" cy="102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b="true" sz="196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REDUCES ADMINISTRATIVE BURDEN WITH AUTOMATED DISPUTE HANDLING.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318356" y="8117397"/>
            <a:ext cx="4199502" cy="1108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3"/>
              </a:lnSpc>
              <a:spcBef>
                <a:spcPct val="0"/>
              </a:spcBef>
            </a:pPr>
            <a:r>
              <a:rPr lang="en-US" b="true" sz="210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SUPPORTS EMERGENCY READINESS WITH INSTANT QR-BASED ACCESS TO RECORDS.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12261" y="374947"/>
            <a:ext cx="7662477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</a:t>
            </a: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pact: Solving a Major Problem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7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0365" y="2715949"/>
            <a:ext cx="9106270" cy="444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8462" spc="683">
                <a:solidFill>
                  <a:srgbClr val="EB4896">
                    <a:alpha val="21961"/>
                  </a:srgbClr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</a:t>
            </a:r>
          </a:p>
          <a:p>
            <a:pPr algn="ctr">
              <a:lnSpc>
                <a:spcPts val="16800"/>
              </a:lnSpc>
            </a:pPr>
            <a:r>
              <a:rPr lang="en-US" sz="18462" spc="683">
                <a:solidFill>
                  <a:srgbClr val="EB4896">
                    <a:alpha val="21961"/>
                  </a:srgbClr>
                </a:solidFill>
                <a:latin typeface="Abril Fatface"/>
                <a:ea typeface="Abril Fatface"/>
                <a:cs typeface="Abril Fatface"/>
                <a:sym typeface="Abril Fatface"/>
              </a:rPr>
              <a:t>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80038" y="8382063"/>
            <a:ext cx="6326924" cy="86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5"/>
              </a:lnSpc>
            </a:pPr>
            <a:r>
              <a:rPr lang="en-US" b="true" sz="2453" spc="606">
                <a:solidFill>
                  <a:srgbClr val="49342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Please Visit</a:t>
            </a:r>
          </a:p>
          <a:p>
            <a:pPr algn="ctr">
              <a:lnSpc>
                <a:spcPts val="3435"/>
              </a:lnSpc>
            </a:pPr>
            <a:r>
              <a:rPr lang="en-US" b="true" sz="2453" spc="606">
                <a:solidFill>
                  <a:srgbClr val="247CB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www.heal.</a:t>
            </a:r>
            <a:r>
              <a:rPr lang="en-US" b="true" sz="2453" spc="606">
                <a:solidFill>
                  <a:srgbClr val="EB489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</a:t>
            </a:r>
            <a:r>
              <a:rPr lang="en-US" b="true" sz="2453" spc="606">
                <a:solidFill>
                  <a:srgbClr val="49342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to learn more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DAG0QApENLE</dc:identifier>
  <dcterms:modified xsi:type="dcterms:W3CDTF">2011-08-01T06:04:30Z</dcterms:modified>
  <cp:revision>1</cp:revision>
  <dc:title>H.E.A.L AI</dc:title>
</cp:coreProperties>
</file>